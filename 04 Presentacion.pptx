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22D3EE"/>
                </a:solidFill>
                <a:latin typeface="Arial"/>
              </a:defRPr>
            </a:pPr>
            <a:r>
              <a:rPr sz="1200" b="0" i="0" u="none" strike="noStrike">
                <a:solidFill>
                  <a:srgbClr val="22D3EE"/>
                </a:solidFill>
                <a:latin typeface="Arial"/>
              </a:rPr>
              <a:t>Distribución de 1,454 normas por sector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Normas</c:v>
                </c:pt>
              </c:strCache>
            </c:strRef>
          </c:tx>
          <c:spPr>
            <a:solidFill>
              <a:srgbClr val="0891B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F0F9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Sin clasificar</c:v>
                  </c:pt>
                  <c:pt idx="1">
                    <c:v>Vivienda</c:v>
                  </c:pt>
                  <c:pt idx="2">
                    <c:v>Seguridad</c:v>
                  </c:pt>
                  <c:pt idx="3">
                    <c:v>Educación</c:v>
                  </c:pt>
                  <c:pt idx="4">
                    <c:v>Salud</c:v>
                  </c:pt>
                  <c:pt idx="5">
                    <c:v>Justicia</c:v>
                  </c:pt>
                  <c:pt idx="6">
                    <c:v>Transporte</c:v>
                  </c:pt>
                  <c:pt idx="7">
                    <c:v>Comercio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500</c:v>
                </c:pt>
                <c:pt idx="1">
                  <c:v>210</c:v>
                </c:pt>
                <c:pt idx="2">
                  <c:v>140</c:v>
                </c:pt>
                <c:pt idx="3">
                  <c:v>125</c:v>
                </c:pt>
                <c:pt idx="4">
                  <c:v>115</c:v>
                </c:pt>
                <c:pt idx="5">
                  <c:v>90</c:v>
                </c:pt>
                <c:pt idx="6">
                  <c:v>60</c:v>
                </c:pt>
                <c:pt idx="7">
                  <c:v>50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F0F9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1E3A5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112240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image" Target="../media/image-4-9.png"/><Relationship Id="rId10" Type="http://schemas.openxmlformats.org/officeDocument/2006/relationships/image" Target="../media/image-4-10.png"/><Relationship Id="rId11" Type="http://schemas.openxmlformats.org/officeDocument/2006/relationships/image" Target="../media/image-4-11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1.xml"/><Relationship Id="rId1" Type="http://schemas.openxmlformats.org/officeDocument/2006/relationships/image" Target="../media/image-6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image" Target="../media/image-7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0" y="-1097280"/>
            <a:ext cx="4572000" cy="4572000"/>
          </a:xfrm>
          <a:prstGeom prst="ellipse">
            <a:avLst/>
          </a:prstGeom>
          <a:solidFill>
            <a:srgbClr val="0D2B55">
              <a:alpha val="50000"/>
            </a:srgbClr>
          </a:solidFill>
          <a:ln w="19050">
            <a:solidFill>
              <a:srgbClr val="0891B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132320" y="-457200"/>
            <a:ext cx="3200400" cy="3200400"/>
          </a:xfrm>
          <a:prstGeom prst="ellipse">
            <a:avLst/>
          </a:prstGeom>
          <a:solidFill>
            <a:srgbClr val="0891B2">
              <a:alpha val="20000"/>
            </a:srgbClr>
          </a:solidFill>
          <a:ln w="12700">
            <a:solidFill>
              <a:srgbClr val="22D3EE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502920"/>
            <a:ext cx="548640" cy="5486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43000" y="50292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BIG DATA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457200" y="1280160"/>
            <a:ext cx="7315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PILAME</a:t>
            </a:r>
            <a:endParaRPr lang="en-US" sz="7200" dirty="0"/>
          </a:p>
        </p:txBody>
      </p:sp>
      <p:sp>
        <p:nvSpPr>
          <p:cNvPr id="8" name="Text 5"/>
          <p:cNvSpPr/>
          <p:nvPr/>
        </p:nvSpPr>
        <p:spPr>
          <a:xfrm>
            <a:off x="457200" y="2514600"/>
            <a:ext cx="6858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Plataforma de Inteligencia Legal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Analítica de Mercado Estatal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457200" y="3566160"/>
            <a:ext cx="4114800" cy="36576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57200" y="370332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Clasificación semántica de normas legales y contrataciones públicas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mediante Big Data, NLP y modelos generativos de lenguaje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457200" y="4617720"/>
            <a:ext cx="1920240" cy="329184"/>
          </a:xfrm>
          <a:prstGeom prst="roundRect">
            <a:avLst>
              <a:gd name="adj" fmla="val 13889"/>
            </a:avLst>
          </a:prstGeom>
          <a:solidFill>
            <a:srgbClr val="0D2B55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4617720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 Spark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2606040" y="4617720"/>
            <a:ext cx="1920240" cy="329184"/>
          </a:xfrm>
          <a:prstGeom prst="roundRect">
            <a:avLst>
              <a:gd name="adj" fmla="val 13889"/>
            </a:avLst>
          </a:prstGeom>
          <a:solidFill>
            <a:srgbClr val="0D2B55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606040" y="4617720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Atlas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4754880" y="4617720"/>
            <a:ext cx="1920240" cy="329184"/>
          </a:xfrm>
          <a:prstGeom prst="roundRect">
            <a:avLst>
              <a:gd name="adj" fmla="val 13889"/>
            </a:avLst>
          </a:prstGeom>
          <a:solidFill>
            <a:srgbClr val="0D2B55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754880" y="4617720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LLM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6903720" y="4617720"/>
            <a:ext cx="1920240" cy="329184"/>
          </a:xfrm>
          <a:prstGeom prst="roundRect">
            <a:avLst>
              <a:gd name="adj" fmla="val 13889"/>
            </a:avLst>
          </a:prstGeom>
          <a:solidFill>
            <a:srgbClr val="0D2B55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903720" y="4617720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SEACE • El Peruano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74720" cy="5143500"/>
          </a:xfrm>
          <a:prstGeom prst="rect">
            <a:avLst/>
          </a:prstGeom>
          <a:solidFill>
            <a:srgbClr val="0D2B55"/>
          </a:solidFill>
          <a:ln w="12700">
            <a:solidFill>
              <a:srgbClr val="0D2B5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474720" y="0"/>
            <a:ext cx="45720" cy="51435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22860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0891B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274320" y="8686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PROBLEMA</a:t>
            </a:r>
            <a:endParaRPr lang="en-US" sz="10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1463040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146304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1,454</a:t>
            </a:r>
            <a:endParaRPr lang="en-US" sz="3000" dirty="0"/>
          </a:p>
        </p:txBody>
      </p:sp>
      <p:sp>
        <p:nvSpPr>
          <p:cNvPr id="8" name="Text 5"/>
          <p:cNvSpPr/>
          <p:nvPr/>
        </p:nvSpPr>
        <p:spPr>
          <a:xfrm>
            <a:off x="914400" y="192024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Normas del Congreso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(2020–2025)</a:t>
            </a:r>
            <a:endParaRPr lang="en-US" sz="11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3108960"/>
            <a:ext cx="457200" cy="4572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914400" y="310896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62,608</a:t>
            </a:r>
            <a:endParaRPr lang="en-US" sz="3000" dirty="0"/>
          </a:p>
        </p:txBody>
      </p:sp>
      <p:sp>
        <p:nvSpPr>
          <p:cNvPr id="11" name="Text 7"/>
          <p:cNvSpPr/>
          <p:nvPr/>
        </p:nvSpPr>
        <p:spPr>
          <a:xfrm>
            <a:off x="914400" y="356616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Contratos del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SEACE (2025)</a:t>
            </a:r>
            <a:endParaRPr lang="en-US" sz="1100" dirty="0"/>
          </a:p>
        </p:txBody>
      </p:sp>
      <p:sp>
        <p:nvSpPr>
          <p:cNvPr id="12" name="Text 8"/>
          <p:cNvSpPr/>
          <p:nvPr/>
        </p:nvSpPr>
        <p:spPr>
          <a:xfrm>
            <a:off x="3749040" y="274320"/>
            <a:ext cx="5120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¿Cuál es la brecha que cierra PILAME?</a:t>
            </a:r>
            <a:endParaRPr lang="en-US" sz="2000" dirty="0"/>
          </a:p>
        </p:txBody>
      </p:sp>
      <p:sp>
        <p:nvSpPr>
          <p:cNvPr id="13" name="Shape 9"/>
          <p:cNvSpPr/>
          <p:nvPr/>
        </p:nvSpPr>
        <p:spPr>
          <a:xfrm>
            <a:off x="3749040" y="1188720"/>
            <a:ext cx="5074920" cy="1051560"/>
          </a:xfrm>
          <a:prstGeom prst="roundRect">
            <a:avLst>
              <a:gd name="adj" fmla="val 6957"/>
            </a:avLst>
          </a:prstGeom>
          <a:solidFill>
            <a:srgbClr val="112240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31920" y="1481328"/>
            <a:ext cx="365760" cy="36576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4434840" y="1280160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Lenguaje jurídico complejo</a:t>
            </a:r>
            <a:endParaRPr lang="en-US" sz="1300" dirty="0"/>
          </a:p>
        </p:txBody>
      </p:sp>
      <p:sp>
        <p:nvSpPr>
          <p:cNvPr id="16" name="Text 11"/>
          <p:cNvSpPr/>
          <p:nvPr/>
        </p:nvSpPr>
        <p:spPr>
          <a:xfrm>
            <a:off x="4434840" y="1600200"/>
            <a:ext cx="4206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normas están redactadas en lenguaje técnico-jurídico disperso en múltiples cuerpos normativos del Diario Oficial El Peruano.</a:t>
            </a:r>
            <a:endParaRPr lang="en-US" sz="1050" dirty="0"/>
          </a:p>
        </p:txBody>
      </p:sp>
      <p:sp>
        <p:nvSpPr>
          <p:cNvPr id="17" name="Shape 12"/>
          <p:cNvSpPr/>
          <p:nvPr/>
        </p:nvSpPr>
        <p:spPr>
          <a:xfrm>
            <a:off x="3749040" y="2423160"/>
            <a:ext cx="5074920" cy="1051560"/>
          </a:xfrm>
          <a:prstGeom prst="roundRect">
            <a:avLst>
              <a:gd name="adj" fmla="val 6957"/>
            </a:avLst>
          </a:prstGeom>
          <a:solidFill>
            <a:srgbClr val="112240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31920" y="2715768"/>
            <a:ext cx="365760" cy="36576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4434840" y="2514600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Brecha de acceso</a:t>
            </a:r>
            <a:endParaRPr lang="en-US" sz="1300" dirty="0"/>
          </a:p>
        </p:txBody>
      </p:sp>
      <p:sp>
        <p:nvSpPr>
          <p:cNvPr id="20" name="Text 14"/>
          <p:cNvSpPr/>
          <p:nvPr/>
        </p:nvSpPr>
        <p:spPr>
          <a:xfrm>
            <a:off x="4434840" y="2834640"/>
            <a:ext cx="4206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actores del mercado carecen de herramientas para identificar qué normas aplican a un contrato concreto.</a:t>
            </a:r>
            <a:endParaRPr lang="en-US" sz="1050" dirty="0"/>
          </a:p>
        </p:txBody>
      </p:sp>
      <p:sp>
        <p:nvSpPr>
          <p:cNvPr id="21" name="Shape 15"/>
          <p:cNvSpPr/>
          <p:nvPr/>
        </p:nvSpPr>
        <p:spPr>
          <a:xfrm>
            <a:off x="3749040" y="3657600"/>
            <a:ext cx="5074920" cy="1051560"/>
          </a:xfrm>
          <a:prstGeom prst="roundRect">
            <a:avLst>
              <a:gd name="adj" fmla="val 6957"/>
            </a:avLst>
          </a:prstGeom>
          <a:solidFill>
            <a:srgbClr val="112240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31920" y="3950208"/>
            <a:ext cx="365760" cy="36576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4434840" y="3749040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Fuentes desconectadas</a:t>
            </a:r>
            <a:endParaRPr lang="en-US" sz="1300" dirty="0"/>
          </a:p>
        </p:txBody>
      </p:sp>
      <p:sp>
        <p:nvSpPr>
          <p:cNvPr id="24" name="Text 17"/>
          <p:cNvSpPr/>
          <p:nvPr/>
        </p:nvSpPr>
        <p:spPr>
          <a:xfrm>
            <a:off x="4434840" y="4069080"/>
            <a:ext cx="4206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Contratos del SEACE y normas del Congreso se analizan de forma independiente, limitando el análisis de impacto normativo.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2B55"/>
          </a:solidFill>
          <a:ln w="12700">
            <a:solidFill>
              <a:srgbClr val="0D2B55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201168"/>
            <a:ext cx="502920" cy="5029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18288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Arquitectura Medallion — Data Lake por Capas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1005840" y="64008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DISEÑO DEL SISTEMA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228600" y="1188720"/>
            <a:ext cx="2011680" cy="3474720"/>
          </a:xfrm>
          <a:prstGeom prst="roundRect">
            <a:avLst>
              <a:gd name="adj" fmla="val 4545"/>
            </a:avLst>
          </a:prstGeom>
          <a:solidFill>
            <a:srgbClr val="112240"/>
          </a:solidFill>
          <a:ln w="25400">
            <a:solidFill>
              <a:srgbClr val="1D4ED8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365760" y="1325880"/>
            <a:ext cx="1737360" cy="640080"/>
          </a:xfrm>
          <a:prstGeom prst="roundRect">
            <a:avLst>
              <a:gd name="adj" fmla="val 8571"/>
            </a:avLst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137160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WORKLOAD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320040" y="201168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Ingesta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411480" y="2377440"/>
            <a:ext cx="1691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62,608 contratos XLSX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1,454 normas CSV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Validación de esquemas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2240280" y="2697480"/>
            <a:ext cx="182880" cy="36576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2423160" y="1188720"/>
            <a:ext cx="2011680" cy="3474720"/>
          </a:xfrm>
          <a:prstGeom prst="roundRect">
            <a:avLst>
              <a:gd name="adj" fmla="val 4545"/>
            </a:avLst>
          </a:prstGeom>
          <a:solidFill>
            <a:srgbClr val="112240"/>
          </a:solidFill>
          <a:ln w="25400">
            <a:solidFill>
              <a:srgbClr val="0891B2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2560320" y="1325880"/>
            <a:ext cx="1737360" cy="640080"/>
          </a:xfrm>
          <a:prstGeom prst="roundRect">
            <a:avLst>
              <a:gd name="adj" fmla="val 8571"/>
            </a:avLst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514600" y="137160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LANDING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2514600" y="201168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Persistencia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2606040" y="2377440"/>
            <a:ext cx="1691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Formato Parquet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Particionamiento binario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Zona inmutable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4434840" y="2697480"/>
            <a:ext cx="182880" cy="36576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4617720" y="1188720"/>
            <a:ext cx="2011680" cy="3474720"/>
          </a:xfrm>
          <a:prstGeom prst="roundRect">
            <a:avLst>
              <a:gd name="adj" fmla="val 4545"/>
            </a:avLst>
          </a:prstGeom>
          <a:solidFill>
            <a:srgbClr val="112240"/>
          </a:solidFill>
          <a:ln w="25400">
            <a:solidFill>
              <a:srgbClr val="059669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4754880" y="1325880"/>
            <a:ext cx="1737360" cy="640080"/>
          </a:xfrm>
          <a:prstGeom prst="roundRect">
            <a:avLst>
              <a:gd name="adj" fmla="val 8571"/>
            </a:avLst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709160" y="137160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CURATED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4709160" y="201168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Limpieza + NLP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4800600" y="2377440"/>
            <a:ext cx="1691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Filtros de calidad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Normalización textual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Clasificación sectorial</a:t>
            </a:r>
            <a:endParaRPr lang="en-US" sz="1050" dirty="0"/>
          </a:p>
        </p:txBody>
      </p:sp>
      <p:sp>
        <p:nvSpPr>
          <p:cNvPr id="23" name="Shape 20"/>
          <p:cNvSpPr/>
          <p:nvPr/>
        </p:nvSpPr>
        <p:spPr>
          <a:xfrm>
            <a:off x="6629400" y="2697480"/>
            <a:ext cx="182880" cy="36576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6812280" y="1188720"/>
            <a:ext cx="2011680" cy="3474720"/>
          </a:xfrm>
          <a:prstGeom prst="roundRect">
            <a:avLst>
              <a:gd name="adj" fmla="val 4545"/>
            </a:avLst>
          </a:prstGeom>
          <a:solidFill>
            <a:srgbClr val="112240"/>
          </a:solidFill>
          <a:ln w="25400">
            <a:solidFill>
              <a:srgbClr val="7C3AED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6949440" y="1325880"/>
            <a:ext cx="1737360" cy="640080"/>
          </a:xfrm>
          <a:prstGeom prst="roundRect">
            <a:avLst>
              <a:gd name="adj" fmla="val 8571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6903720" y="137160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</a:t>
            </a:r>
            <a:endParaRPr lang="en-US" sz="1300" dirty="0"/>
          </a:p>
        </p:txBody>
      </p:sp>
      <p:sp>
        <p:nvSpPr>
          <p:cNvPr id="27" name="Text 24"/>
          <p:cNvSpPr/>
          <p:nvPr/>
        </p:nvSpPr>
        <p:spPr>
          <a:xfrm>
            <a:off x="6903720" y="201168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Carga final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6995160" y="2377440"/>
            <a:ext cx="1691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Enriquecimiento PDF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Atlas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Índices únicos</a:t>
            </a:r>
            <a:endParaRPr lang="en-US" sz="1050" dirty="0"/>
          </a:p>
        </p:txBody>
      </p:sp>
      <p:sp>
        <p:nvSpPr>
          <p:cNvPr id="29" name="Text 26"/>
          <p:cNvSpPr/>
          <p:nvPr/>
        </p:nvSpPr>
        <p:spPr>
          <a:xfrm>
            <a:off x="228600" y="466344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FUENTES:</a:t>
            </a:r>
            <a:endParaRPr lang="en-US" sz="1000" dirty="0"/>
          </a:p>
        </p:txBody>
      </p:sp>
      <p:sp>
        <p:nvSpPr>
          <p:cNvPr id="30" name="Text 27"/>
          <p:cNvSpPr/>
          <p:nvPr/>
        </p:nvSpPr>
        <p:spPr>
          <a:xfrm>
            <a:off x="1280160" y="4663440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SEACE (contrataciones públicas)  •  El Peruano (normas legales PDF)  •  Repositorio: github.com/vinces1leon/GRUPO6_BDA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2B55"/>
          </a:solidFill>
          <a:ln w="12700">
            <a:solidFill>
              <a:srgbClr val="0D2B55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201168"/>
            <a:ext cx="502920" cy="5029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18288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Clasificación Sectorial con NLP — 15 Sectores Económicos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1005840" y="64008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ALGORITMOS Y MÉTRICAS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274320" y="1097280"/>
            <a:ext cx="4206240" cy="3749040"/>
          </a:xfrm>
          <a:prstGeom prst="roundRect">
            <a:avLst>
              <a:gd name="adj" fmla="val 2439"/>
            </a:avLst>
          </a:prstGeom>
          <a:solidFill>
            <a:srgbClr val="112240"/>
          </a:solidFill>
          <a:ln w="25400">
            <a:solidFill>
              <a:srgbClr val="0891B2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365760" y="1188720"/>
            <a:ext cx="4023360" cy="685800"/>
          </a:xfrm>
          <a:prstGeom prst="roundRect">
            <a:avLst>
              <a:gd name="adj" fmla="val 9333"/>
            </a:avLst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98448"/>
            <a:ext cx="411480" cy="41148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005840" y="1261872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 + Reglas Léxicas</a:t>
            </a:r>
            <a:endParaRPr lang="en-US" sz="14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029968"/>
            <a:ext cx="256032" cy="256032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822960" y="2011680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reglas de términos institucionales</a:t>
            </a:r>
            <a:endParaRPr lang="en-US" sz="115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2468880"/>
            <a:ext cx="256032" cy="256032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822960" y="2450592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Similitud coseno sobre vectores</a:t>
            </a:r>
            <a:endParaRPr lang="en-US" sz="1150" dirty="0"/>
          </a:p>
        </p:txBody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2907792"/>
            <a:ext cx="256032" cy="256032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822960" y="2889504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Unigramas y bigramas</a:t>
            </a:r>
            <a:endParaRPr lang="en-US" sz="1150" dirty="0"/>
          </a:p>
        </p:txBody>
      </p:sp>
      <p:pic>
        <p:nvPicPr>
          <p:cNvPr id="1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" y="3346704"/>
            <a:ext cx="256032" cy="256032"/>
          </a:xfrm>
          <a:prstGeom prst="rect">
            <a:avLst/>
          </a:prstGeom>
        </p:spPr>
      </p:pic>
      <p:sp>
        <p:nvSpPr>
          <p:cNvPr id="17" name="Text 9"/>
          <p:cNvSpPr/>
          <p:nvPr/>
        </p:nvSpPr>
        <p:spPr>
          <a:xfrm>
            <a:off x="822960" y="3328416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Alta velocidad de clasificación</a:t>
            </a:r>
            <a:endParaRPr lang="en-US" sz="1150" dirty="0"/>
          </a:p>
        </p:txBody>
      </p:sp>
      <p:sp>
        <p:nvSpPr>
          <p:cNvPr id="18" name="Shape 10"/>
          <p:cNvSpPr/>
          <p:nvPr/>
        </p:nvSpPr>
        <p:spPr>
          <a:xfrm>
            <a:off x="411480" y="3840480"/>
            <a:ext cx="3931920" cy="749808"/>
          </a:xfrm>
          <a:prstGeom prst="roundRect">
            <a:avLst>
              <a:gd name="adj" fmla="val 8537"/>
            </a:avLst>
          </a:prstGeom>
          <a:solidFill>
            <a:srgbClr val="2D1B69"/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19" name="Text 11"/>
          <p:cNvSpPr/>
          <p:nvPr/>
        </p:nvSpPr>
        <p:spPr>
          <a:xfrm>
            <a:off x="502920" y="3877056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ENTROPÍA  —  Contratos:</a:t>
            </a:r>
            <a:endParaRPr lang="en-US" sz="900" dirty="0"/>
          </a:p>
        </p:txBody>
      </p:sp>
      <p:sp>
        <p:nvSpPr>
          <p:cNvPr id="20" name="Text 12"/>
          <p:cNvSpPr/>
          <p:nvPr/>
        </p:nvSpPr>
        <p:spPr>
          <a:xfrm>
            <a:off x="2743200" y="3877056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4A3B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3.275</a:t>
            </a:r>
            <a:endParaRPr lang="en-US" sz="1600" dirty="0"/>
          </a:p>
        </p:txBody>
      </p:sp>
      <p:sp>
        <p:nvSpPr>
          <p:cNvPr id="21" name="Text 13"/>
          <p:cNvSpPr/>
          <p:nvPr/>
        </p:nvSpPr>
        <p:spPr>
          <a:xfrm>
            <a:off x="502920" y="4187952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Leyes:</a:t>
            </a:r>
            <a:endParaRPr lang="en-US" sz="900" dirty="0"/>
          </a:p>
        </p:txBody>
      </p:sp>
      <p:sp>
        <p:nvSpPr>
          <p:cNvPr id="22" name="Text 14"/>
          <p:cNvSpPr/>
          <p:nvPr/>
        </p:nvSpPr>
        <p:spPr>
          <a:xfrm>
            <a:off x="960120" y="4187952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4A3B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3.353</a:t>
            </a:r>
            <a:endParaRPr lang="en-US" sz="1600" dirty="0"/>
          </a:p>
        </p:txBody>
      </p:sp>
      <p:sp>
        <p:nvSpPr>
          <p:cNvPr id="23" name="Shape 15"/>
          <p:cNvSpPr/>
          <p:nvPr/>
        </p:nvSpPr>
        <p:spPr>
          <a:xfrm>
            <a:off x="4754880" y="1097280"/>
            <a:ext cx="4206240" cy="3749040"/>
          </a:xfrm>
          <a:prstGeom prst="roundRect">
            <a:avLst>
              <a:gd name="adj" fmla="val 2439"/>
            </a:avLst>
          </a:prstGeom>
          <a:solidFill>
            <a:srgbClr val="112240"/>
          </a:solidFill>
          <a:ln w="25400">
            <a:solidFill>
              <a:srgbClr val="7C3AED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sp>
        <p:nvSpPr>
          <p:cNvPr id="24" name="Shape 16"/>
          <p:cNvSpPr/>
          <p:nvPr/>
        </p:nvSpPr>
        <p:spPr>
          <a:xfrm>
            <a:off x="4846320" y="1188720"/>
            <a:ext cx="4023360" cy="685800"/>
          </a:xfrm>
          <a:prstGeom prst="roundRect">
            <a:avLst>
              <a:gd name="adj" fmla="val 9333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25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37760" y="1298448"/>
            <a:ext cx="411480" cy="411480"/>
          </a:xfrm>
          <a:prstGeom prst="rect">
            <a:avLst/>
          </a:prstGeom>
        </p:spPr>
      </p:pic>
      <p:sp>
        <p:nvSpPr>
          <p:cNvPr id="26" name="Text 17"/>
          <p:cNvSpPr/>
          <p:nvPr/>
        </p:nvSpPr>
        <p:spPr>
          <a:xfrm>
            <a:off x="5486400" y="1261872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SBERT — MiniLM-L12-v2</a:t>
            </a:r>
            <a:endParaRPr lang="en-US" sz="1400" dirty="0"/>
          </a:p>
        </p:txBody>
      </p:sp>
      <p:pic>
        <p:nvPicPr>
          <p:cNvPr id="27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37760" y="2029968"/>
            <a:ext cx="256032" cy="256032"/>
          </a:xfrm>
          <a:prstGeom prst="rect">
            <a:avLst/>
          </a:prstGeom>
        </p:spPr>
      </p:pic>
      <p:sp>
        <p:nvSpPr>
          <p:cNvPr id="28" name="Text 18"/>
          <p:cNvSpPr/>
          <p:nvPr/>
        </p:nvSpPr>
        <p:spPr>
          <a:xfrm>
            <a:off x="5303520" y="2011680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Embeddings de 384 dimensiones</a:t>
            </a:r>
            <a:endParaRPr lang="en-US" sz="1150" dirty="0"/>
          </a:p>
        </p:txBody>
      </p:sp>
      <p:pic>
        <p:nvPicPr>
          <p:cNvPr id="29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937760" y="2468880"/>
            <a:ext cx="256032" cy="256032"/>
          </a:xfrm>
          <a:prstGeom prst="rect">
            <a:avLst/>
          </a:prstGeom>
        </p:spPr>
      </p:pic>
      <p:sp>
        <p:nvSpPr>
          <p:cNvPr id="30" name="Text 19"/>
          <p:cNvSpPr/>
          <p:nvPr/>
        </p:nvSpPr>
        <p:spPr>
          <a:xfrm>
            <a:off x="5303520" y="2450592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Centroides semánticos por sector</a:t>
            </a:r>
            <a:endParaRPr lang="en-US" sz="1150" dirty="0"/>
          </a:p>
        </p:txBody>
      </p:sp>
      <p:pic>
        <p:nvPicPr>
          <p:cNvPr id="3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937760" y="2907792"/>
            <a:ext cx="256032" cy="256032"/>
          </a:xfrm>
          <a:prstGeom prst="rect">
            <a:avLst/>
          </a:prstGeom>
        </p:spPr>
      </p:pic>
      <p:sp>
        <p:nvSpPr>
          <p:cNvPr id="32" name="Text 20"/>
          <p:cNvSpPr/>
          <p:nvPr/>
        </p:nvSpPr>
        <p:spPr>
          <a:xfrm>
            <a:off x="5303520" y="2889504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Multilingüe (español nativo)</a:t>
            </a:r>
            <a:endParaRPr lang="en-US" sz="1150" dirty="0"/>
          </a:p>
        </p:txBody>
      </p:sp>
      <p:pic>
        <p:nvPicPr>
          <p:cNvPr id="33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937760" y="3346704"/>
            <a:ext cx="256032" cy="256032"/>
          </a:xfrm>
          <a:prstGeom prst="rect">
            <a:avLst/>
          </a:prstGeom>
        </p:spPr>
      </p:pic>
      <p:sp>
        <p:nvSpPr>
          <p:cNvPr id="34" name="Text 21"/>
          <p:cNvSpPr/>
          <p:nvPr/>
        </p:nvSpPr>
        <p:spPr>
          <a:xfrm>
            <a:off x="5303520" y="3328416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Captura similitud contextual</a:t>
            </a:r>
            <a:endParaRPr lang="en-US" sz="1150" dirty="0"/>
          </a:p>
        </p:txBody>
      </p:sp>
      <p:sp>
        <p:nvSpPr>
          <p:cNvPr id="35" name="Shape 22"/>
          <p:cNvSpPr/>
          <p:nvPr/>
        </p:nvSpPr>
        <p:spPr>
          <a:xfrm>
            <a:off x="4892040" y="3840480"/>
            <a:ext cx="3931920" cy="749808"/>
          </a:xfrm>
          <a:prstGeom prst="roundRect">
            <a:avLst>
              <a:gd name="adj" fmla="val 8537"/>
            </a:avLst>
          </a:prstGeom>
          <a:solidFill>
            <a:srgbClr val="2D1B69"/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36" name="Text 23"/>
          <p:cNvSpPr/>
          <p:nvPr/>
        </p:nvSpPr>
        <p:spPr>
          <a:xfrm>
            <a:off x="4983480" y="3877056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ENTROPÍA  —  Contratos:</a:t>
            </a:r>
            <a:endParaRPr lang="en-US" sz="900" dirty="0"/>
          </a:p>
        </p:txBody>
      </p:sp>
      <p:sp>
        <p:nvSpPr>
          <p:cNvPr id="37" name="Text 24"/>
          <p:cNvSpPr/>
          <p:nvPr/>
        </p:nvSpPr>
        <p:spPr>
          <a:xfrm>
            <a:off x="7223760" y="3877056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4A3B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0.685</a:t>
            </a:r>
            <a:endParaRPr lang="en-US" sz="1600" dirty="0"/>
          </a:p>
        </p:txBody>
      </p:sp>
      <p:sp>
        <p:nvSpPr>
          <p:cNvPr id="38" name="Text 25"/>
          <p:cNvSpPr/>
          <p:nvPr/>
        </p:nvSpPr>
        <p:spPr>
          <a:xfrm>
            <a:off x="4983480" y="4187952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Leyes:</a:t>
            </a:r>
            <a:endParaRPr lang="en-US" sz="900" dirty="0"/>
          </a:p>
        </p:txBody>
      </p:sp>
      <p:sp>
        <p:nvSpPr>
          <p:cNvPr id="39" name="Text 26"/>
          <p:cNvSpPr/>
          <p:nvPr/>
        </p:nvSpPr>
        <p:spPr>
          <a:xfrm>
            <a:off x="5440680" y="4187952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4A3B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3.092</a:t>
            </a:r>
            <a:endParaRPr lang="en-US" sz="1600" dirty="0"/>
          </a:p>
        </p:txBody>
      </p:sp>
      <p:sp>
        <p:nvSpPr>
          <p:cNvPr id="40" name="Text 27"/>
          <p:cNvSpPr/>
          <p:nvPr/>
        </p:nvSpPr>
        <p:spPr>
          <a:xfrm>
            <a:off x="274320" y="4846320"/>
            <a:ext cx="8595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Mayor entropía = mayor diversidad sectorial = mejor capacidad discriminativa del clasificador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2B55"/>
          </a:solidFill>
          <a:ln w="12700">
            <a:solidFill>
              <a:srgbClr val="0D2B55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201168"/>
            <a:ext cx="502920" cy="5029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18288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Agente Inteligente — Motor de Consulta Gemini + MongoDB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1005840" y="64008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ANÁLISIS INTEGRADOR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182880" y="1097280"/>
            <a:ext cx="1828800" cy="1371600"/>
          </a:xfrm>
          <a:prstGeom prst="roundRect">
            <a:avLst>
              <a:gd name="adj" fmla="val 6667"/>
            </a:avLst>
          </a:prstGeom>
          <a:solidFill>
            <a:srgbClr val="112240"/>
          </a:solidFill>
          <a:ln w="19050">
            <a:solidFill>
              <a:srgbClr val="0891B2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1188720"/>
            <a:ext cx="457200" cy="4572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228600" y="169164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Lenguaje Natural</a:t>
            </a:r>
            <a:endParaRPr lang="en-US" sz="1100" dirty="0"/>
          </a:p>
        </p:txBody>
      </p:sp>
      <p:sp>
        <p:nvSpPr>
          <p:cNvPr id="9" name="Shape 5"/>
          <p:cNvSpPr/>
          <p:nvPr/>
        </p:nvSpPr>
        <p:spPr>
          <a:xfrm>
            <a:off x="2011680" y="1764792"/>
            <a:ext cx="457200" cy="36576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2286000" y="1097280"/>
            <a:ext cx="1828800" cy="1371600"/>
          </a:xfrm>
          <a:prstGeom prst="roundRect">
            <a:avLst>
              <a:gd name="adj" fmla="val 6667"/>
            </a:avLst>
          </a:prstGeom>
          <a:solidFill>
            <a:srgbClr val="112240"/>
          </a:solidFill>
          <a:ln w="19050">
            <a:solidFill>
              <a:srgbClr val="0891B2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71800" y="1188720"/>
            <a:ext cx="457200" cy="45720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2331720" y="169164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LLM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Calling</a:t>
            </a:r>
            <a:endParaRPr lang="en-US" sz="1100" dirty="0"/>
          </a:p>
        </p:txBody>
      </p:sp>
      <p:sp>
        <p:nvSpPr>
          <p:cNvPr id="13" name="Shape 8"/>
          <p:cNvSpPr/>
          <p:nvPr/>
        </p:nvSpPr>
        <p:spPr>
          <a:xfrm>
            <a:off x="4114800" y="1764792"/>
            <a:ext cx="457200" cy="36576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4" name="Shape 9"/>
          <p:cNvSpPr/>
          <p:nvPr/>
        </p:nvSpPr>
        <p:spPr>
          <a:xfrm>
            <a:off x="4389120" y="1097280"/>
            <a:ext cx="1828800" cy="1371600"/>
          </a:xfrm>
          <a:prstGeom prst="roundRect">
            <a:avLst>
              <a:gd name="adj" fmla="val 6667"/>
            </a:avLst>
          </a:prstGeom>
          <a:solidFill>
            <a:srgbClr val="112240"/>
          </a:solidFill>
          <a:ln w="19050">
            <a:solidFill>
              <a:srgbClr val="0891B2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4920" y="1188720"/>
            <a:ext cx="457200" cy="45720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4434840" y="169164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Herramientas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Especializadas</a:t>
            </a:r>
            <a:endParaRPr lang="en-US" sz="1100" dirty="0"/>
          </a:p>
        </p:txBody>
      </p:sp>
      <p:sp>
        <p:nvSpPr>
          <p:cNvPr id="17" name="Shape 11"/>
          <p:cNvSpPr/>
          <p:nvPr/>
        </p:nvSpPr>
        <p:spPr>
          <a:xfrm>
            <a:off x="6217920" y="1764792"/>
            <a:ext cx="457200" cy="36576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8" name="Shape 12"/>
          <p:cNvSpPr/>
          <p:nvPr/>
        </p:nvSpPr>
        <p:spPr>
          <a:xfrm>
            <a:off x="6492240" y="1097280"/>
            <a:ext cx="1828800" cy="1371600"/>
          </a:xfrm>
          <a:prstGeom prst="roundRect">
            <a:avLst>
              <a:gd name="adj" fmla="val 6667"/>
            </a:avLst>
          </a:prstGeom>
          <a:solidFill>
            <a:srgbClr val="112240"/>
          </a:solidFill>
          <a:ln w="19050">
            <a:solidFill>
              <a:srgbClr val="0891B2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78040" y="1188720"/>
            <a:ext cx="457200" cy="457200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6537960" y="169164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Atlas</a:t>
            </a:r>
            <a:endParaRPr lang="en-US" sz="1100" dirty="0"/>
          </a:p>
        </p:txBody>
      </p:sp>
      <p:sp>
        <p:nvSpPr>
          <p:cNvPr id="21" name="Shape 14"/>
          <p:cNvSpPr/>
          <p:nvPr/>
        </p:nvSpPr>
        <p:spPr>
          <a:xfrm>
            <a:off x="182880" y="2697480"/>
            <a:ext cx="2057400" cy="1417320"/>
          </a:xfrm>
          <a:prstGeom prst="roundRect">
            <a:avLst>
              <a:gd name="adj" fmla="val 5161"/>
            </a:avLst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sp>
        <p:nvSpPr>
          <p:cNvPr id="22" name="Shape 15"/>
          <p:cNvSpPr/>
          <p:nvPr/>
        </p:nvSpPr>
        <p:spPr>
          <a:xfrm>
            <a:off x="274320" y="2788920"/>
            <a:ext cx="457200" cy="45720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3" name="Text 16"/>
          <p:cNvSpPr/>
          <p:nvPr/>
        </p:nvSpPr>
        <p:spPr>
          <a:xfrm>
            <a:off x="274320" y="2788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300" dirty="0"/>
          </a:p>
        </p:txBody>
      </p:sp>
      <p:sp>
        <p:nvSpPr>
          <p:cNvPr id="24" name="Text 17"/>
          <p:cNvSpPr/>
          <p:nvPr/>
        </p:nvSpPr>
        <p:spPr>
          <a:xfrm>
            <a:off x="822960" y="2807208"/>
            <a:ext cx="1325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Consultas simples</a:t>
            </a:r>
            <a:endParaRPr lang="en-US" sz="1100" dirty="0"/>
          </a:p>
        </p:txBody>
      </p:sp>
      <p:sp>
        <p:nvSpPr>
          <p:cNvPr id="25" name="Text 18"/>
          <p:cNvSpPr/>
          <p:nvPr/>
        </p:nvSpPr>
        <p:spPr>
          <a:xfrm>
            <a:off x="274320" y="3291840"/>
            <a:ext cx="1874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Filtros y búsquedas directas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sobre colecciones MongoDB</a:t>
            </a:r>
            <a:endParaRPr lang="en-US" sz="1000" dirty="0"/>
          </a:p>
        </p:txBody>
      </p:sp>
      <p:sp>
        <p:nvSpPr>
          <p:cNvPr id="26" name="Shape 19"/>
          <p:cNvSpPr/>
          <p:nvPr/>
        </p:nvSpPr>
        <p:spPr>
          <a:xfrm>
            <a:off x="2423160" y="2697480"/>
            <a:ext cx="2057400" cy="1417320"/>
          </a:xfrm>
          <a:prstGeom prst="roundRect">
            <a:avLst>
              <a:gd name="adj" fmla="val 5161"/>
            </a:avLst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sp>
        <p:nvSpPr>
          <p:cNvPr id="27" name="Shape 20"/>
          <p:cNvSpPr/>
          <p:nvPr/>
        </p:nvSpPr>
        <p:spPr>
          <a:xfrm>
            <a:off x="2514600" y="2788920"/>
            <a:ext cx="457200" cy="45720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8" name="Text 21"/>
          <p:cNvSpPr/>
          <p:nvPr/>
        </p:nvSpPr>
        <p:spPr>
          <a:xfrm>
            <a:off x="2514600" y="2788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300" dirty="0"/>
          </a:p>
        </p:txBody>
      </p:sp>
      <p:sp>
        <p:nvSpPr>
          <p:cNvPr id="29" name="Text 22"/>
          <p:cNvSpPr/>
          <p:nvPr/>
        </p:nvSpPr>
        <p:spPr>
          <a:xfrm>
            <a:off x="3063240" y="2807208"/>
            <a:ext cx="1325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Pipelines de agregación</a:t>
            </a:r>
            <a:endParaRPr lang="en-US" sz="1100" dirty="0"/>
          </a:p>
        </p:txBody>
      </p:sp>
      <p:sp>
        <p:nvSpPr>
          <p:cNvPr id="30" name="Text 23"/>
          <p:cNvSpPr/>
          <p:nvPr/>
        </p:nvSpPr>
        <p:spPr>
          <a:xfrm>
            <a:off x="2514600" y="3291840"/>
            <a:ext cx="1874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Agrupamientos, estadísticos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cruces de información</a:t>
            </a:r>
            <a:endParaRPr lang="en-US" sz="1000" dirty="0"/>
          </a:p>
        </p:txBody>
      </p:sp>
      <p:sp>
        <p:nvSpPr>
          <p:cNvPr id="31" name="Shape 24"/>
          <p:cNvSpPr/>
          <p:nvPr/>
        </p:nvSpPr>
        <p:spPr>
          <a:xfrm>
            <a:off x="4663440" y="2697480"/>
            <a:ext cx="2057400" cy="1417320"/>
          </a:xfrm>
          <a:prstGeom prst="roundRect">
            <a:avLst>
              <a:gd name="adj" fmla="val 5161"/>
            </a:avLst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sp>
        <p:nvSpPr>
          <p:cNvPr id="32" name="Shape 25"/>
          <p:cNvSpPr/>
          <p:nvPr/>
        </p:nvSpPr>
        <p:spPr>
          <a:xfrm>
            <a:off x="4754880" y="2788920"/>
            <a:ext cx="457200" cy="45720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3" name="Text 26"/>
          <p:cNvSpPr/>
          <p:nvPr/>
        </p:nvSpPr>
        <p:spPr>
          <a:xfrm>
            <a:off x="4754880" y="2788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300" dirty="0"/>
          </a:p>
        </p:txBody>
      </p:sp>
      <p:sp>
        <p:nvSpPr>
          <p:cNvPr id="34" name="Text 27"/>
          <p:cNvSpPr/>
          <p:nvPr/>
        </p:nvSpPr>
        <p:spPr>
          <a:xfrm>
            <a:off x="5303520" y="2807208"/>
            <a:ext cx="1325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Procesamiento CSV/Excel</a:t>
            </a:r>
            <a:endParaRPr lang="en-US" sz="1100" dirty="0"/>
          </a:p>
        </p:txBody>
      </p:sp>
      <p:sp>
        <p:nvSpPr>
          <p:cNvPr id="35" name="Text 28"/>
          <p:cNvSpPr/>
          <p:nvPr/>
        </p:nvSpPr>
        <p:spPr>
          <a:xfrm>
            <a:off x="4754880" y="3291840"/>
            <a:ext cx="1874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Conversión a JSON normalizado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compatible con el esquema</a:t>
            </a:r>
            <a:endParaRPr lang="en-US" sz="1000" dirty="0"/>
          </a:p>
        </p:txBody>
      </p:sp>
      <p:sp>
        <p:nvSpPr>
          <p:cNvPr id="36" name="Shape 29"/>
          <p:cNvSpPr/>
          <p:nvPr/>
        </p:nvSpPr>
        <p:spPr>
          <a:xfrm>
            <a:off x="6903720" y="2697480"/>
            <a:ext cx="2057400" cy="1417320"/>
          </a:xfrm>
          <a:prstGeom prst="roundRect">
            <a:avLst>
              <a:gd name="adj" fmla="val 5161"/>
            </a:avLst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sp>
        <p:nvSpPr>
          <p:cNvPr id="37" name="Shape 30"/>
          <p:cNvSpPr/>
          <p:nvPr/>
        </p:nvSpPr>
        <p:spPr>
          <a:xfrm>
            <a:off x="6995160" y="2788920"/>
            <a:ext cx="457200" cy="45720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8" name="Text 31"/>
          <p:cNvSpPr/>
          <p:nvPr/>
        </p:nvSpPr>
        <p:spPr>
          <a:xfrm>
            <a:off x="6995160" y="2788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300" dirty="0"/>
          </a:p>
        </p:txBody>
      </p:sp>
      <p:sp>
        <p:nvSpPr>
          <p:cNvPr id="39" name="Text 32"/>
          <p:cNvSpPr/>
          <p:nvPr/>
        </p:nvSpPr>
        <p:spPr>
          <a:xfrm>
            <a:off x="7543800" y="2807208"/>
            <a:ext cx="1325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Búsqueda normativa</a:t>
            </a:r>
            <a:endParaRPr lang="en-US" sz="1100" dirty="0"/>
          </a:p>
        </p:txBody>
      </p:sp>
      <p:sp>
        <p:nvSpPr>
          <p:cNvPr id="40" name="Text 33"/>
          <p:cNvSpPr/>
          <p:nvPr/>
        </p:nvSpPr>
        <p:spPr>
          <a:xfrm>
            <a:off x="6995160" y="3291840"/>
            <a:ext cx="1874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Identificación semántica de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normas para un contrato dado</a:t>
            </a:r>
            <a:endParaRPr lang="en-US" sz="1000" dirty="0"/>
          </a:p>
        </p:txBody>
      </p:sp>
      <p:sp>
        <p:nvSpPr>
          <p:cNvPr id="41" name="Shape 34"/>
          <p:cNvSpPr/>
          <p:nvPr/>
        </p:nvSpPr>
        <p:spPr>
          <a:xfrm>
            <a:off x="182880" y="4251960"/>
            <a:ext cx="8778240" cy="685800"/>
          </a:xfrm>
          <a:prstGeom prst="roundRect">
            <a:avLst>
              <a:gd name="adj" fmla="val 10667"/>
            </a:avLst>
          </a:prstGeom>
          <a:solidFill>
            <a:srgbClr val="012B20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42" name="Text 35"/>
          <p:cNvSpPr/>
          <p:nvPr/>
        </p:nvSpPr>
        <p:spPr>
          <a:xfrm>
            <a:off x="365760" y="431596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RESULTADO:</a:t>
            </a:r>
            <a:endParaRPr lang="en-US" sz="900" dirty="0"/>
          </a:p>
        </p:txBody>
      </p:sp>
      <p:sp>
        <p:nvSpPr>
          <p:cNvPr id="43" name="Text 36"/>
          <p:cNvSpPr/>
          <p:nvPr/>
        </p:nvSpPr>
        <p:spPr>
          <a:xfrm>
            <a:off x="1508760" y="4315968"/>
            <a:ext cx="7223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Respuesta en lenguaje natural con normas identificadas, organizadas en categorías: Leyes • Decretos Legislativos • Decretos Supremos • Resoluciones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2B55"/>
          </a:solidFill>
          <a:ln w="12700">
            <a:solidFill>
              <a:srgbClr val="0D2B55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201168"/>
            <a:ext cx="502920" cy="5029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18288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Resultados — Clasificación y Caso Real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1005840" y="64008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VALIDACIÓN DEL SISTEMA</a:t>
            </a:r>
            <a:endParaRPr lang="en-US" sz="9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228600" y="1097280"/>
          <a:ext cx="4937760" cy="3749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Shape 3"/>
          <p:cNvSpPr/>
          <p:nvPr/>
        </p:nvSpPr>
        <p:spPr>
          <a:xfrm>
            <a:off x="5349240" y="1097280"/>
            <a:ext cx="3566160" cy="3749040"/>
          </a:xfrm>
          <a:prstGeom prst="roundRect">
            <a:avLst>
              <a:gd name="adj" fmla="val 2564"/>
            </a:avLst>
          </a:prstGeom>
          <a:solidFill>
            <a:srgbClr val="112240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sp>
        <p:nvSpPr>
          <p:cNvPr id="8" name="Text 4"/>
          <p:cNvSpPr/>
          <p:nvPr/>
        </p:nvSpPr>
        <p:spPr>
          <a:xfrm>
            <a:off x="5440680" y="118872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 REAL</a:t>
            </a:r>
            <a:endParaRPr lang="en-US" sz="1000" dirty="0"/>
          </a:p>
        </p:txBody>
      </p:sp>
      <p:sp>
        <p:nvSpPr>
          <p:cNvPr id="9" name="Text 5"/>
          <p:cNvSpPr/>
          <p:nvPr/>
        </p:nvSpPr>
        <p:spPr>
          <a:xfrm>
            <a:off x="5440680" y="1481328"/>
            <a:ext cx="338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Contrato N° 00418-2025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OEFA / OAD-UAB</a:t>
            </a:r>
            <a:endParaRPr lang="en-US" sz="1400" dirty="0"/>
          </a:p>
        </p:txBody>
      </p:sp>
      <p:sp>
        <p:nvSpPr>
          <p:cNvPr id="10" name="Text 6"/>
          <p:cNvSpPr/>
          <p:nvPr/>
        </p:nvSpPr>
        <p:spPr>
          <a:xfrm>
            <a:off x="5440680" y="2084832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S/ 18,000.00  •  8 páginas PDF  •  26,414 caracteres extraídos</a:t>
            </a:r>
            <a:endParaRPr lang="en-US" sz="950" dirty="0"/>
          </a:p>
        </p:txBody>
      </p:sp>
      <p:sp>
        <p:nvSpPr>
          <p:cNvPr id="11" name="Shape 7"/>
          <p:cNvSpPr/>
          <p:nvPr/>
        </p:nvSpPr>
        <p:spPr>
          <a:xfrm>
            <a:off x="5440680" y="2578608"/>
            <a:ext cx="3383280" cy="475488"/>
          </a:xfrm>
          <a:prstGeom prst="roundRect">
            <a:avLst>
              <a:gd name="adj" fmla="val 11538"/>
            </a:avLst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5486400" y="2670048"/>
            <a:ext cx="292608" cy="292608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5486400" y="267004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5870448" y="2596896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Leyes</a:t>
            </a:r>
            <a:endParaRPr lang="en-US" sz="1050" dirty="0"/>
          </a:p>
        </p:txBody>
      </p:sp>
      <p:sp>
        <p:nvSpPr>
          <p:cNvPr id="15" name="Text 11"/>
          <p:cNvSpPr/>
          <p:nvPr/>
        </p:nvSpPr>
        <p:spPr>
          <a:xfrm>
            <a:off x="5870448" y="2825496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 Civil, Ley 29325, Ley 29783, Ley 30035, Ley 26872</a:t>
            </a:r>
            <a:endParaRPr lang="en-US" sz="850" dirty="0"/>
          </a:p>
        </p:txBody>
      </p:sp>
      <p:sp>
        <p:nvSpPr>
          <p:cNvPr id="16" name="Shape 12"/>
          <p:cNvSpPr/>
          <p:nvPr/>
        </p:nvSpPr>
        <p:spPr>
          <a:xfrm>
            <a:off x="5440680" y="3127248"/>
            <a:ext cx="3383280" cy="475488"/>
          </a:xfrm>
          <a:prstGeom prst="roundRect">
            <a:avLst>
              <a:gd name="adj" fmla="val 11538"/>
            </a:avLst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5486400" y="3218688"/>
            <a:ext cx="292608" cy="292608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5486400" y="321868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100" dirty="0"/>
          </a:p>
        </p:txBody>
      </p:sp>
      <p:sp>
        <p:nvSpPr>
          <p:cNvPr id="19" name="Text 15"/>
          <p:cNvSpPr/>
          <p:nvPr/>
        </p:nvSpPr>
        <p:spPr>
          <a:xfrm>
            <a:off x="5870448" y="3145536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Decretos Legislativos</a:t>
            </a:r>
            <a:endParaRPr lang="en-US" sz="1050" dirty="0"/>
          </a:p>
        </p:txBody>
      </p:sp>
      <p:sp>
        <p:nvSpPr>
          <p:cNvPr id="20" name="Text 16"/>
          <p:cNvSpPr/>
          <p:nvPr/>
        </p:nvSpPr>
        <p:spPr>
          <a:xfrm>
            <a:off x="5870448" y="3374136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D.L. 1013 (MINAM) • D.L. 1440 (Presupuesto)</a:t>
            </a:r>
            <a:endParaRPr lang="en-US" sz="850" dirty="0"/>
          </a:p>
        </p:txBody>
      </p:sp>
      <p:sp>
        <p:nvSpPr>
          <p:cNvPr id="21" name="Shape 17"/>
          <p:cNvSpPr/>
          <p:nvPr/>
        </p:nvSpPr>
        <p:spPr>
          <a:xfrm>
            <a:off x="5440680" y="3675888"/>
            <a:ext cx="3383280" cy="475488"/>
          </a:xfrm>
          <a:prstGeom prst="roundRect">
            <a:avLst>
              <a:gd name="adj" fmla="val 11538"/>
            </a:avLst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5486400" y="3767328"/>
            <a:ext cx="292608" cy="292608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5486400" y="376732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100" dirty="0"/>
          </a:p>
        </p:txBody>
      </p:sp>
      <p:sp>
        <p:nvSpPr>
          <p:cNvPr id="24" name="Text 20"/>
          <p:cNvSpPr/>
          <p:nvPr/>
        </p:nvSpPr>
        <p:spPr>
          <a:xfrm>
            <a:off x="5870448" y="3694176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Decretos Supremos</a:t>
            </a:r>
            <a:endParaRPr lang="en-US" sz="1050" dirty="0"/>
          </a:p>
        </p:txBody>
      </p:sp>
      <p:sp>
        <p:nvSpPr>
          <p:cNvPr id="25" name="Text 21"/>
          <p:cNvSpPr/>
          <p:nvPr/>
        </p:nvSpPr>
        <p:spPr>
          <a:xfrm>
            <a:off x="5870448" y="3922776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reglamentos vinculados a leyes anteriores</a:t>
            </a:r>
            <a:endParaRPr lang="en-US" sz="850" dirty="0"/>
          </a:p>
        </p:txBody>
      </p:sp>
      <p:sp>
        <p:nvSpPr>
          <p:cNvPr id="26" name="Shape 22"/>
          <p:cNvSpPr/>
          <p:nvPr/>
        </p:nvSpPr>
        <p:spPr>
          <a:xfrm>
            <a:off x="5440680" y="4224528"/>
            <a:ext cx="3383280" cy="475488"/>
          </a:xfrm>
          <a:prstGeom prst="roundRect">
            <a:avLst>
              <a:gd name="adj" fmla="val 11538"/>
            </a:avLst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5486400" y="4315968"/>
            <a:ext cx="292608" cy="292608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5486400" y="431596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100" dirty="0"/>
          </a:p>
        </p:txBody>
      </p:sp>
      <p:sp>
        <p:nvSpPr>
          <p:cNvPr id="29" name="Text 25"/>
          <p:cNvSpPr/>
          <p:nvPr/>
        </p:nvSpPr>
        <p:spPr>
          <a:xfrm>
            <a:off x="5870448" y="4242816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Resoluciones</a:t>
            </a:r>
            <a:endParaRPr lang="en-US" sz="1050" dirty="0"/>
          </a:p>
        </p:txBody>
      </p:sp>
      <p:sp>
        <p:nvSpPr>
          <p:cNvPr id="30" name="Text 26"/>
          <p:cNvSpPr/>
          <p:nvPr/>
        </p:nvSpPr>
        <p:spPr>
          <a:xfrm>
            <a:off x="5870448" y="4471416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instrumentos institucionales OEFA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2B55"/>
          </a:solidFill>
          <a:ln w="12700">
            <a:solidFill>
              <a:srgbClr val="0D2B55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201168"/>
            <a:ext cx="502920" cy="5029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18288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Conclusiones y Trabajo Futuro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1005840" y="64008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 CIERRE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274320" y="109728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CONCLUSIONES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274320" y="1508760"/>
            <a:ext cx="4114800" cy="713232"/>
          </a:xfrm>
          <a:prstGeom prst="roundRect">
            <a:avLst>
              <a:gd name="adj" fmla="val 8974"/>
            </a:avLst>
          </a:prstGeom>
          <a:solidFill>
            <a:srgbClr val="112240"/>
          </a:solidFill>
          <a:ln w="12700">
            <a:solidFill>
              <a:srgbClr val="0891B2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1728216"/>
            <a:ext cx="274320" cy="27432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749808" y="1581912"/>
            <a:ext cx="3520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arquitectura Medallion procesa eficientemente fuentes heterogéneas (XLSX, PDF, CSV) de forma trazable.</a:t>
            </a:r>
            <a:endParaRPr lang="en-US" sz="1050" dirty="0"/>
          </a:p>
        </p:txBody>
      </p:sp>
      <p:sp>
        <p:nvSpPr>
          <p:cNvPr id="10" name="Shape 6"/>
          <p:cNvSpPr/>
          <p:nvPr/>
        </p:nvSpPr>
        <p:spPr>
          <a:xfrm>
            <a:off x="274320" y="2313432"/>
            <a:ext cx="4114800" cy="713232"/>
          </a:xfrm>
          <a:prstGeom prst="roundRect">
            <a:avLst>
              <a:gd name="adj" fmla="val 8974"/>
            </a:avLst>
          </a:prstGeom>
          <a:solidFill>
            <a:srgbClr val="112240"/>
          </a:solidFill>
          <a:ln w="12700">
            <a:solidFill>
              <a:srgbClr val="0891B2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048" y="2532888"/>
            <a:ext cx="274320" cy="27432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749808" y="2386584"/>
            <a:ext cx="3520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 supera a SBERT en entropía sectorial, siendo el clasificador más adecuado para el dominio jurídico peruano.</a:t>
            </a:r>
            <a:endParaRPr lang="en-US" sz="1050" dirty="0"/>
          </a:p>
        </p:txBody>
      </p:sp>
      <p:sp>
        <p:nvSpPr>
          <p:cNvPr id="13" name="Shape 8"/>
          <p:cNvSpPr/>
          <p:nvPr/>
        </p:nvSpPr>
        <p:spPr>
          <a:xfrm>
            <a:off x="274320" y="3118104"/>
            <a:ext cx="4114800" cy="713232"/>
          </a:xfrm>
          <a:prstGeom prst="roundRect">
            <a:avLst>
              <a:gd name="adj" fmla="val 8974"/>
            </a:avLst>
          </a:prstGeom>
          <a:solidFill>
            <a:srgbClr val="112240"/>
          </a:solidFill>
          <a:ln w="12700">
            <a:solidFill>
              <a:srgbClr val="0891B2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4048" y="3337560"/>
            <a:ext cx="274320" cy="27432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749808" y="3191256"/>
            <a:ext cx="3520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integración de Gemini habilita consultas en lenguaje natural sin requerir conocimiento de sintaxis MongoDB.</a:t>
            </a:r>
            <a:endParaRPr lang="en-US" sz="1050" dirty="0"/>
          </a:p>
        </p:txBody>
      </p:sp>
      <p:sp>
        <p:nvSpPr>
          <p:cNvPr id="16" name="Shape 10"/>
          <p:cNvSpPr/>
          <p:nvPr/>
        </p:nvSpPr>
        <p:spPr>
          <a:xfrm>
            <a:off x="274320" y="3922776"/>
            <a:ext cx="4114800" cy="713232"/>
          </a:xfrm>
          <a:prstGeom prst="roundRect">
            <a:avLst>
              <a:gd name="adj" fmla="val 8974"/>
            </a:avLst>
          </a:prstGeom>
          <a:solidFill>
            <a:srgbClr val="112240"/>
          </a:solidFill>
          <a:ln w="12700">
            <a:solidFill>
              <a:srgbClr val="0891B2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4048" y="4142232"/>
            <a:ext cx="274320" cy="274320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749808" y="3995928"/>
            <a:ext cx="3520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PILAME identifica el marco normativo completo de un contrato, incluyendo cláusulas internas, no solo las citas explícitas.</a:t>
            </a:r>
            <a:endParaRPr lang="en-US" sz="1050" dirty="0"/>
          </a:p>
        </p:txBody>
      </p:sp>
      <p:sp>
        <p:nvSpPr>
          <p:cNvPr id="19" name="Text 12"/>
          <p:cNvSpPr/>
          <p:nvPr/>
        </p:nvSpPr>
        <p:spPr>
          <a:xfrm>
            <a:off x="4754880" y="109728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TRABAJO FUTURO</a:t>
            </a:r>
            <a:endParaRPr lang="en-US" sz="1100" dirty="0"/>
          </a:p>
        </p:txBody>
      </p:sp>
      <p:sp>
        <p:nvSpPr>
          <p:cNvPr id="20" name="Shape 13"/>
          <p:cNvSpPr/>
          <p:nvPr/>
        </p:nvSpPr>
        <p:spPr>
          <a:xfrm>
            <a:off x="4754880" y="1508760"/>
            <a:ext cx="4114800" cy="1051560"/>
          </a:xfrm>
          <a:prstGeom prst="roundRect">
            <a:avLst>
              <a:gd name="adj" fmla="val 6957"/>
            </a:avLst>
          </a:prstGeom>
          <a:solidFill>
            <a:srgbClr val="112240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pic>
        <p:nvPicPr>
          <p:cNvPr id="2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92040" y="1783080"/>
            <a:ext cx="411480" cy="411480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5394960" y="1618488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Actualización automática</a:t>
            </a:r>
            <a:endParaRPr lang="en-US" sz="1300" dirty="0"/>
          </a:p>
        </p:txBody>
      </p:sp>
      <p:sp>
        <p:nvSpPr>
          <p:cNvPr id="23" name="Text 15"/>
          <p:cNvSpPr/>
          <p:nvPr/>
        </p:nvSpPr>
        <p:spPr>
          <a:xfrm>
            <a:off x="5394960" y="1965960"/>
            <a:ext cx="3337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Ingesta continua de nuevas normas publicadas en El Peruano</a:t>
            </a:r>
            <a:endParaRPr lang="en-US" sz="1100" dirty="0"/>
          </a:p>
        </p:txBody>
      </p:sp>
      <p:sp>
        <p:nvSpPr>
          <p:cNvPr id="24" name="Shape 16"/>
          <p:cNvSpPr/>
          <p:nvPr/>
        </p:nvSpPr>
        <p:spPr>
          <a:xfrm>
            <a:off x="4754880" y="2697480"/>
            <a:ext cx="4114800" cy="1051560"/>
          </a:xfrm>
          <a:prstGeom prst="roundRect">
            <a:avLst>
              <a:gd name="adj" fmla="val 6957"/>
            </a:avLst>
          </a:prstGeom>
          <a:solidFill>
            <a:srgbClr val="112240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pic>
        <p:nvPicPr>
          <p:cNvPr id="25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92040" y="2971800"/>
            <a:ext cx="411480" cy="411480"/>
          </a:xfrm>
          <a:prstGeom prst="rect">
            <a:avLst/>
          </a:prstGeom>
        </p:spPr>
      </p:pic>
      <p:sp>
        <p:nvSpPr>
          <p:cNvPr id="26" name="Text 17"/>
          <p:cNvSpPr/>
          <p:nvPr/>
        </p:nvSpPr>
        <p:spPr>
          <a:xfrm>
            <a:off x="5394960" y="2807208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alertas</a:t>
            </a:r>
            <a:endParaRPr lang="en-US" sz="1300" dirty="0"/>
          </a:p>
        </p:txBody>
      </p:sp>
      <p:sp>
        <p:nvSpPr>
          <p:cNvPr id="27" name="Text 18"/>
          <p:cNvSpPr/>
          <p:nvPr/>
        </p:nvSpPr>
        <p:spPr>
          <a:xfrm>
            <a:off x="5394960" y="3154680"/>
            <a:ext cx="3337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Notificaciones a entidades cuando se promulgan normas en su sector</a:t>
            </a:r>
            <a:endParaRPr lang="en-US" sz="1100" dirty="0"/>
          </a:p>
        </p:txBody>
      </p:sp>
      <p:sp>
        <p:nvSpPr>
          <p:cNvPr id="28" name="Shape 19"/>
          <p:cNvSpPr/>
          <p:nvPr/>
        </p:nvSpPr>
        <p:spPr>
          <a:xfrm>
            <a:off x="4754880" y="3886200"/>
            <a:ext cx="4114800" cy="1051560"/>
          </a:xfrm>
          <a:prstGeom prst="roundRect">
            <a:avLst>
              <a:gd name="adj" fmla="val 6957"/>
            </a:avLst>
          </a:prstGeom>
          <a:solidFill>
            <a:srgbClr val="112240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pic>
        <p:nvPicPr>
          <p:cNvPr id="2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92040" y="4160520"/>
            <a:ext cx="411480" cy="411480"/>
          </a:xfrm>
          <a:prstGeom prst="rect">
            <a:avLst/>
          </a:prstGeom>
        </p:spPr>
      </p:pic>
      <p:sp>
        <p:nvSpPr>
          <p:cNvPr id="30" name="Text 20"/>
          <p:cNvSpPr/>
          <p:nvPr/>
        </p:nvSpPr>
        <p:spPr>
          <a:xfrm>
            <a:off x="5394960" y="3995928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Migración a Databricks</a:t>
            </a:r>
            <a:endParaRPr lang="en-US" sz="1300" dirty="0"/>
          </a:p>
        </p:txBody>
      </p:sp>
      <p:sp>
        <p:nvSpPr>
          <p:cNvPr id="31" name="Text 21"/>
          <p:cNvSpPr/>
          <p:nvPr/>
        </p:nvSpPr>
        <p:spPr>
          <a:xfrm>
            <a:off x="5394960" y="4343400"/>
            <a:ext cx="3337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en streaming continuo para entornos productivos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3200400"/>
            <a:ext cx="5486400" cy="5486400"/>
          </a:xfrm>
          <a:prstGeom prst="ellipse">
            <a:avLst/>
          </a:prstGeom>
          <a:solidFill>
            <a:srgbClr val="0D2B55">
              <a:alpha val="40000"/>
            </a:srgbClr>
          </a:solidFill>
          <a:ln w="19050">
            <a:solidFill>
              <a:srgbClr val="0891B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0" y="-1371600"/>
            <a:ext cx="4572000" cy="4572000"/>
          </a:xfrm>
          <a:prstGeom prst="ellipse">
            <a:avLst/>
          </a:prstGeom>
          <a:solidFill>
            <a:srgbClr val="0D2B55">
              <a:alpha val="30000"/>
            </a:srgbClr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188720"/>
            <a:ext cx="7315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PILAME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914400" y="233172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Plataforma de Inteligencia Legal y Analítica de Mercado Estatal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2743200" y="2944368"/>
            <a:ext cx="3657600" cy="36576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14400" y="3154680"/>
            <a:ext cx="1645920" cy="347472"/>
          </a:xfrm>
          <a:prstGeom prst="roundRect">
            <a:avLst>
              <a:gd name="adj" fmla="val 15789"/>
            </a:avLst>
          </a:prstGeom>
          <a:solidFill>
            <a:srgbClr val="112240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3154680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Data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743200" y="3154680"/>
            <a:ext cx="1645920" cy="347472"/>
          </a:xfrm>
          <a:prstGeom prst="roundRect">
            <a:avLst>
              <a:gd name="adj" fmla="val 15789"/>
            </a:avLst>
          </a:prstGeom>
          <a:solidFill>
            <a:srgbClr val="112240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0" y="3154680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 Spark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0" y="3154680"/>
            <a:ext cx="1645920" cy="347472"/>
          </a:xfrm>
          <a:prstGeom prst="roundRect">
            <a:avLst>
              <a:gd name="adj" fmla="val 15789"/>
            </a:avLst>
          </a:prstGeom>
          <a:solidFill>
            <a:srgbClr val="112240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0" y="3154680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400800" y="3154680"/>
            <a:ext cx="1645920" cy="347472"/>
          </a:xfrm>
          <a:prstGeom prst="roundRect">
            <a:avLst>
              <a:gd name="adj" fmla="val 15789"/>
            </a:avLst>
          </a:prstGeom>
          <a:solidFill>
            <a:srgbClr val="112240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0" y="3154680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SBERT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914400" y="3657600"/>
            <a:ext cx="1645920" cy="347472"/>
          </a:xfrm>
          <a:prstGeom prst="roundRect">
            <a:avLst>
              <a:gd name="adj" fmla="val 15789"/>
            </a:avLst>
          </a:prstGeom>
          <a:solidFill>
            <a:srgbClr val="112240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" y="3657600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743200" y="3657600"/>
            <a:ext cx="1645920" cy="347472"/>
          </a:xfrm>
          <a:prstGeom prst="roundRect">
            <a:avLst>
              <a:gd name="adj" fmla="val 15789"/>
            </a:avLst>
          </a:prstGeom>
          <a:solidFill>
            <a:srgbClr val="112240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43200" y="3657600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Atlas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0" y="3657600"/>
            <a:ext cx="1645920" cy="347472"/>
          </a:xfrm>
          <a:prstGeom prst="roundRect">
            <a:avLst>
              <a:gd name="adj" fmla="val 15789"/>
            </a:avLst>
          </a:prstGeom>
          <a:solidFill>
            <a:srgbClr val="112240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0" y="3657600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LLM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400800" y="3657600"/>
            <a:ext cx="1645920" cy="347472"/>
          </a:xfrm>
          <a:prstGeom prst="roundRect">
            <a:avLst>
              <a:gd name="adj" fmla="val 15789"/>
            </a:avLst>
          </a:prstGeom>
          <a:solidFill>
            <a:srgbClr val="112240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0800" y="3657600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SEACE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914400" y="4343400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github.com/vinces1leon/GRUPO6_BDA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0" y="5065776"/>
            <a:ext cx="9144000" cy="7315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PILAME – Plataforma de Inteligencia Legal y Analítica de Mercado Estatal</dc:title>
  <dc:subject>PptxGenJS Presentation</dc:subject>
  <dc:creator>PptxGenJS</dc:creator>
  <cp:lastModifiedBy>PptxGenJS</cp:lastModifiedBy>
  <cp:revision>1</cp:revision>
  <dcterms:created xsi:type="dcterms:W3CDTF">2026-06-23T02:55:52Z</dcterms:created>
  <dcterms:modified xsi:type="dcterms:W3CDTF">2026-06-23T02:55:52Z</dcterms:modified>
</cp:coreProperties>
</file>